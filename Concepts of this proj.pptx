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8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8" r:id="rId29"/>
    <p:sldId id="285" r:id="rId30"/>
    <p:sldId id="286" r:id="rId31"/>
    <p:sldId id="287" r:id="rId32"/>
    <p:sldId id="29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02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C54A7-D36E-4396-ADAC-4019F9A6F6A7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C2F9B7-E0F9-42E7-B0A5-60979F643B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3154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C2F9B7-E0F9-42E7-B0A5-60979F643BB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8351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C2F9B7-E0F9-42E7-B0A5-60979F643BB2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9385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C2F9B7-E0F9-42E7-B0A5-60979F643BB2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6579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C2F9B7-E0F9-42E7-B0A5-60979F643BB2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0582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C2F9B7-E0F9-42E7-B0A5-60979F643BB2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6536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22339-92EB-D7C6-40E1-00AD15A33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54C348-2605-9998-F932-06097082F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2A7F0-17B8-A223-38B9-432428A84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B028-014D-43B5-A0B7-A14CBFDF46DF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3292F-F28D-3EB5-5973-87C038E9F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C526D-6CD4-72FA-F08C-98F0BA2C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FC85-55B1-4267-AC8D-21D3E49103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27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CF7AD-2F86-2468-C4CA-FF9CA4A00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B6900-CAE9-731E-D681-B02B535E4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4F1B1-8E6E-989D-6702-DA2541125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B028-014D-43B5-A0B7-A14CBFDF46DF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414B2-6509-B2B5-733C-73FB50017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EFE22-AB6A-4E75-30AC-10C91376A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FC85-55B1-4267-AC8D-21D3E49103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7477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5ECD2-AE2D-0728-B175-9AC4F9AAE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4C90F-F4FA-B5C4-DAF9-CD740D7C7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0458F-A972-7390-F396-37234CC1F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B028-014D-43B5-A0B7-A14CBFDF46DF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15A2-65B3-F45C-8A88-FAE826FA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3BBFE-C94E-681B-C145-948AD0706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FC85-55B1-4267-AC8D-21D3E49103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629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EAB02-D362-4712-F128-69104C3D4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AA335-D868-A9CD-3AE0-72784A499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312E4D-A5FC-E9EC-10E5-C20CB445F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884D1C-BFFF-1BEF-2AC5-E69AA7B98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B028-014D-43B5-A0B7-A14CBFDF46DF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E75C6-206A-5EE6-589B-175E8D95D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93964-9D45-D24D-24BD-28605AA7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FC85-55B1-4267-AC8D-21D3E49103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8588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7685C-B90A-F85D-4EA2-9F8CE07BF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FE95F-3DC7-320B-28E6-03371C3D7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6BDEE-0E0D-B6DE-DDC1-7E268728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5EC808-0619-73EE-6AEB-7932BCBC3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D57504-A28C-8D20-92CE-CA040A2F5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36C1EE-2F2E-E1F7-4E8F-A850B4DF0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B028-014D-43B5-A0B7-A14CBFDF46DF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0A69A3-2FB4-4A1B-E8DF-03CB17165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645AD3-0B71-F0C9-7D85-9A6C7AB03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FC85-55B1-4267-AC8D-21D3E49103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8292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824EB-FB59-2BBF-993D-F491176AA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624206-24A3-3070-B6FA-F158F5343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B028-014D-43B5-A0B7-A14CBFDF46DF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5045D-1BB3-9139-6164-01635A188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5C5AEB-ECDE-BC8D-C85A-8FD160252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FC85-55B1-4267-AC8D-21D3E49103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9271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1A7BFB-91E0-198A-D200-B69923E29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B028-014D-43B5-A0B7-A14CBFDF46DF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DE37CF-6122-89B3-CDCD-18CF718F9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9B071-9933-FEE0-EBF9-789314531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FC85-55B1-4267-AC8D-21D3E49103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0661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6D5B8-4E53-D049-3D5C-6585D9C92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0C2A1-5F34-CBA7-B7D4-2C3E33A79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C6FAD-DBF6-C0DD-528D-8C9A02E1A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BFDF0-A24C-A3E4-B954-5CB34CEB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B028-014D-43B5-A0B7-A14CBFDF46DF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B50AE-512A-F089-D251-D7A158F37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10A39-F284-074E-3C81-9F48E4AF7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FC85-55B1-4267-AC8D-21D3E49103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8018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01FAA-6A58-3838-E6A5-95E10F33E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166587-774B-8FCF-0214-CE1BA276C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76FD3-75BD-541F-3ACF-E32BCE12E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08450D-7D18-61ED-25F1-6CA707A7C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B028-014D-43B5-A0B7-A14CBFDF46DF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8440B-77A2-76A0-C3A4-FC73697E8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A9C14-4F17-D413-75BB-B283B9E0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FC85-55B1-4267-AC8D-21D3E49103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2258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92FD1-45EC-7E5D-597D-B23DA59EE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D947C-7BB5-6D59-4137-B360546C9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EDAEC-5FA7-87F7-ADF0-92AB5DB02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B028-014D-43B5-A0B7-A14CBFDF46DF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68A04-408D-5199-C264-66B9CF7F9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89FF1-0A61-50FA-6782-A425EC362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FC85-55B1-4267-AC8D-21D3E49103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7219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102650-3C15-E883-09C4-22F4555CC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82794-3AAB-67FD-F003-1033260D2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43955-40D9-32E4-343C-124C2DC33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B028-014D-43B5-A0B7-A14CBFDF46DF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B4812-1E78-A692-841C-F216AC31E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D6EC3-ADC5-7A2C-863E-D6E42454E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FC85-55B1-4267-AC8D-21D3E49103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8340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06A71C-AA1D-7568-CE7E-78C70F70E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F637E-37FB-76A5-9103-A2A3052D6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4A39A-F401-4386-BB23-2F24ECF7E8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80B028-014D-43B5-A0B7-A14CBFDF46DF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71FB8-F635-A960-59B5-B3D57EB66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E69D8-FA39-CEBF-A36F-A989C2038E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A9FC85-55B1-4267-AC8D-21D3E491034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9975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93015-F106-3494-700E-75052E448D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  Concepts</a:t>
            </a:r>
            <a:r>
              <a:rPr lang="ko-KR" altLang="en-US" dirty="0"/>
              <a:t> </a:t>
            </a:r>
            <a:r>
              <a:rPr lang="en-CA" altLang="ko-KR" dirty="0"/>
              <a:t>of</a:t>
            </a:r>
            <a:r>
              <a:rPr lang="ko-KR" altLang="en-US" dirty="0"/>
              <a:t> </a:t>
            </a:r>
            <a:r>
              <a:rPr lang="en-CA" altLang="ko-KR" dirty="0"/>
              <a:t>this</a:t>
            </a:r>
            <a:r>
              <a:rPr lang="ko-KR" altLang="en-US" dirty="0"/>
              <a:t> </a:t>
            </a:r>
            <a:r>
              <a:rPr lang="en-CA" altLang="ko-KR" dirty="0" err="1"/>
              <a:t>proj</a:t>
            </a:r>
            <a:br>
              <a:rPr lang="en-CA" altLang="ko-KR" dirty="0"/>
            </a:br>
            <a:r>
              <a:rPr lang="en-CA" altLang="ko-KR" sz="4000" dirty="0"/>
              <a:t>- CPU Base -</a:t>
            </a:r>
            <a:endParaRPr lang="en-CA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91EE84-279F-4944-8C70-6EF8AC12C3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Justin</a:t>
            </a:r>
          </a:p>
        </p:txBody>
      </p:sp>
    </p:spTree>
    <p:extLst>
      <p:ext uri="{BB962C8B-B14F-4D97-AF65-F5344CB8AC3E}">
        <p14:creationId xmlns:p14="http://schemas.microsoft.com/office/powerpoint/2010/main" val="3455726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1AB33-0F63-6A7B-CE84-E89D163BC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F27D3-D204-3456-2E24-803CB842B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55000" lnSpcReduction="20000"/>
          </a:bodyPr>
          <a:lstStyle/>
          <a:p>
            <a:r>
              <a:rPr lang="en-CA" dirty="0"/>
              <a:t>HPC</a:t>
            </a:r>
          </a:p>
          <a:p>
            <a:pPr lvl="1"/>
            <a:r>
              <a:rPr lang="en-CA" dirty="0"/>
              <a:t>What is HPC?</a:t>
            </a:r>
          </a:p>
          <a:p>
            <a:pPr lvl="1"/>
            <a:r>
              <a:rPr lang="en-CA" dirty="0"/>
              <a:t>Flattening</a:t>
            </a:r>
          </a:p>
          <a:p>
            <a:pPr lvl="1"/>
            <a:r>
              <a:rPr lang="en-CA" dirty="0"/>
              <a:t>Quantization</a:t>
            </a:r>
          </a:p>
          <a:p>
            <a:pPr lvl="1"/>
            <a:r>
              <a:rPr lang="en-CA" dirty="0"/>
              <a:t>Example</a:t>
            </a:r>
          </a:p>
          <a:p>
            <a:r>
              <a:rPr lang="en-CA" dirty="0"/>
              <a:t>Tensor</a:t>
            </a:r>
          </a:p>
          <a:p>
            <a:r>
              <a:rPr lang="en-CA" dirty="0"/>
              <a:t>Image Vectorization</a:t>
            </a:r>
          </a:p>
          <a:p>
            <a:r>
              <a:rPr lang="en-CA" dirty="0"/>
              <a:t>Embedding Space</a:t>
            </a:r>
          </a:p>
          <a:p>
            <a:pPr lvl="1"/>
            <a:r>
              <a:rPr lang="en-CA" dirty="0"/>
              <a:t>General</a:t>
            </a:r>
          </a:p>
          <a:p>
            <a:pPr lvl="1"/>
            <a:r>
              <a:rPr lang="en-CA" dirty="0"/>
              <a:t>Visualization</a:t>
            </a:r>
          </a:p>
          <a:p>
            <a:pPr lvl="1"/>
            <a:r>
              <a:rPr lang="en-CA" dirty="0"/>
              <a:t>In this </a:t>
            </a:r>
            <a:r>
              <a:rPr lang="en-CA" dirty="0" err="1"/>
              <a:t>proj</a:t>
            </a:r>
            <a:r>
              <a:rPr lang="en-CA" dirty="0"/>
              <a:t>.</a:t>
            </a:r>
          </a:p>
          <a:p>
            <a:r>
              <a:rPr lang="en-CA" dirty="0"/>
              <a:t>Searching algorithm in Vector Space</a:t>
            </a:r>
          </a:p>
          <a:p>
            <a:pPr lvl="1"/>
            <a:r>
              <a:rPr lang="en-CA" dirty="0"/>
              <a:t>Cosine Similarity &amp; L2 Normalization</a:t>
            </a:r>
          </a:p>
          <a:p>
            <a:pPr lvl="1"/>
            <a:r>
              <a:rPr lang="en-CA" dirty="0"/>
              <a:t>Gaussian Whitening</a:t>
            </a:r>
          </a:p>
          <a:p>
            <a:r>
              <a:rPr lang="en-CA" dirty="0"/>
              <a:t>Mathematical error when we add XY Axis</a:t>
            </a:r>
          </a:p>
          <a:p>
            <a:r>
              <a:rPr lang="en-CA" dirty="0"/>
              <a:t>Project Pipeline</a:t>
            </a:r>
          </a:p>
          <a:p>
            <a:r>
              <a:rPr lang="en-CA" dirty="0"/>
              <a:t>What else can you make with these?</a:t>
            </a:r>
          </a:p>
        </p:txBody>
      </p:sp>
    </p:spTree>
    <p:extLst>
      <p:ext uri="{BB962C8B-B14F-4D97-AF65-F5344CB8AC3E}">
        <p14:creationId xmlns:p14="http://schemas.microsoft.com/office/powerpoint/2010/main" val="1592451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35E8C-2FAE-7DC1-D1E9-8D22D95F7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HPC (High-Performance Computing)?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E1767-F277-1989-C370-56601DC19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HPC, Extreme Optimization in Reality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HPC is not just about writing clean code; it is the practice of completing computations as fast as physically possible by any means necessary, deeply utilizing the underlying hardware.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Make it faster and lighter</a:t>
            </a:r>
          </a:p>
        </p:txBody>
      </p:sp>
    </p:spTree>
    <p:extLst>
      <p:ext uri="{BB962C8B-B14F-4D97-AF65-F5344CB8AC3E}">
        <p14:creationId xmlns:p14="http://schemas.microsoft.com/office/powerpoint/2010/main" val="2270263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9ABCC-354F-2A89-A001-1D8B6BA2D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HPC cont. (examples_1)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75299-FAF9-EE62-5A30-04C5D5A40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Illusion of Big-O Notation:</a:t>
            </a:r>
          </a:p>
          <a:p>
            <a:pPr lvl="1"/>
            <a:r>
              <a:rPr lang="en-US" dirty="0"/>
              <a:t>In computer science theory, an </a:t>
            </a:r>
            <a:r>
              <a:rPr lang="en-US" b="1" i="1" dirty="0"/>
              <a:t>O(log n)</a:t>
            </a:r>
            <a:r>
              <a:rPr lang="en-US" b="1" dirty="0"/>
              <a:t> </a:t>
            </a:r>
            <a:r>
              <a:rPr lang="en-US" dirty="0"/>
              <a:t>algorithm is always considered "faster" than an </a:t>
            </a:r>
            <a:r>
              <a:rPr lang="en-US" b="1" i="1" dirty="0"/>
              <a:t>O(n)</a:t>
            </a:r>
            <a:r>
              <a:rPr lang="en-US" dirty="0"/>
              <a:t> or </a:t>
            </a:r>
            <a:r>
              <a:rPr lang="en-US" b="1" i="1" dirty="0"/>
              <a:t>O(n^2)</a:t>
            </a:r>
            <a:r>
              <a:rPr lang="en-US" dirty="0"/>
              <a:t> algorithm.</a:t>
            </a:r>
          </a:p>
          <a:p>
            <a:pPr lvl="1"/>
            <a:r>
              <a:rPr lang="en-US" dirty="0"/>
              <a:t>However, theory ignores the </a:t>
            </a:r>
            <a:r>
              <a:rPr lang="en-US" b="1" dirty="0"/>
              <a:t>hidden constant factors </a:t>
            </a:r>
            <a:r>
              <a:rPr lang="en-US" dirty="0"/>
              <a:t>(e.g., memory allocation time, CPU cache utilization, data types, and language overhead).</a:t>
            </a:r>
          </a:p>
          <a:p>
            <a:r>
              <a:rPr lang="en-US" b="1" dirty="0"/>
              <a:t>Theory vs. Reality (The HPC Mindset):</a:t>
            </a:r>
          </a:p>
          <a:p>
            <a:pPr lvl="1"/>
            <a:r>
              <a:rPr lang="en-US" dirty="0"/>
              <a:t>In HPC, we don't blindly trust Big-O. If calculating the actual execution time on our specific hardware proves that an </a:t>
            </a:r>
            <a:r>
              <a:rPr lang="en-US" b="1" i="1" dirty="0"/>
              <a:t>O(n^2)</a:t>
            </a:r>
            <a:r>
              <a:rPr lang="en-US" b="1" dirty="0"/>
              <a:t> </a:t>
            </a:r>
            <a:r>
              <a:rPr lang="en-US" dirty="0"/>
              <a:t>algorithm finishes faster than an </a:t>
            </a:r>
            <a:r>
              <a:rPr lang="en-US" b="1" i="1" dirty="0"/>
              <a:t>O(log n) </a:t>
            </a:r>
            <a:r>
              <a:rPr lang="en-US" dirty="0"/>
              <a:t>algorithm for our specific data size, we choose the </a:t>
            </a:r>
            <a:r>
              <a:rPr lang="en-US" b="1" i="1" dirty="0"/>
              <a:t>O(n^2) </a:t>
            </a:r>
            <a:r>
              <a:rPr lang="en-US" dirty="0"/>
              <a:t>algorithm.</a:t>
            </a:r>
          </a:p>
        </p:txBody>
      </p:sp>
    </p:spTree>
    <p:extLst>
      <p:ext uri="{BB962C8B-B14F-4D97-AF65-F5344CB8AC3E}">
        <p14:creationId xmlns:p14="http://schemas.microsoft.com/office/powerpoint/2010/main" val="2906462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89E0E-965B-49FA-8759-D7380B579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HPC cont. (examples_2)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5FF8-1867-6B96-3263-D8D13D494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Real-World Example: Array vs. Linked List:</a:t>
            </a:r>
          </a:p>
          <a:p>
            <a:pPr lvl="1"/>
            <a:r>
              <a:rPr lang="en-US" b="1" dirty="0"/>
              <a:t>Theory:</a:t>
            </a:r>
            <a:r>
              <a:rPr lang="en-US" dirty="0"/>
              <a:t> Inserting data into a Linked List is </a:t>
            </a:r>
            <a:r>
              <a:rPr lang="en-US" b="1" i="1" dirty="0"/>
              <a:t>O(1)</a:t>
            </a:r>
            <a:r>
              <a:rPr lang="en-US" dirty="0"/>
              <a:t>, while an Array is </a:t>
            </a:r>
            <a:r>
              <a:rPr lang="en-US" b="1" i="1" dirty="0"/>
              <a:t>O(n)</a:t>
            </a:r>
            <a:r>
              <a:rPr lang="en-US" dirty="0"/>
              <a:t>. </a:t>
            </a:r>
            <a:r>
              <a:rPr lang="en-US" b="1" dirty="0"/>
              <a:t>The List should always be faster.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HPC Reality: </a:t>
            </a:r>
            <a:r>
              <a:rPr lang="en-US" dirty="0"/>
              <a:t>Because Arrays use contiguous memory, they perfectly utilize the CPU's L1/L2 cache. For datasets at least under 10,000 items, the Array's hardware efficiency completely crushes the List's pointer-chasing overhead. </a:t>
            </a:r>
            <a:r>
              <a:rPr lang="en-US" b="1" dirty="0"/>
              <a:t>The "slower" </a:t>
            </a:r>
            <a:r>
              <a:rPr lang="en-US" b="1" i="1" dirty="0"/>
              <a:t>O(n) </a:t>
            </a:r>
            <a:r>
              <a:rPr lang="en-US" b="1" dirty="0"/>
              <a:t>Array is practically much faster until the dataset grows massively.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Conclusion:</a:t>
            </a:r>
            <a:r>
              <a:rPr lang="en-US" dirty="0"/>
              <a:t> HPC is about understanding these crossover points and tailoring the architecture to the exact constraints of our system.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Details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https://stackoverflow.com/questions/13174339/vector-vs-list-according-to-stroustrup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82569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CA7CE-10D9-B60F-6A24-773B5DCFD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HPC?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4200B-6B07-AA64-E0EC-14CA21E14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this Project, HPC will be applied as…</a:t>
            </a:r>
          </a:p>
          <a:p>
            <a:r>
              <a:rPr lang="en-US" b="1" dirty="0"/>
              <a:t>CPU (Sequential Processing)</a:t>
            </a:r>
          </a:p>
          <a:p>
            <a:pPr lvl="1"/>
            <a:r>
              <a:rPr lang="en-US" i="1" dirty="0"/>
              <a:t>Analogy:</a:t>
            </a:r>
            <a:r>
              <a:rPr lang="en-US" dirty="0"/>
              <a:t> A few genius-level workers.</a:t>
            </a:r>
          </a:p>
          <a:p>
            <a:pPr lvl="1"/>
            <a:r>
              <a:rPr lang="en-US" i="1" dirty="0"/>
              <a:t>Limitation:</a:t>
            </a:r>
            <a:r>
              <a:rPr lang="en-US" dirty="0"/>
              <a:t> With only a few cores, it processes data sequentially (one by one). Running a for loop on 15 frames of 1080p video (approx. 90 million data points) creates a severe memory bottleneck.</a:t>
            </a:r>
          </a:p>
          <a:p>
            <a:r>
              <a:rPr lang="en-US" b="1" dirty="0"/>
              <a:t>HPC &amp; GPU (Parallel Processing)</a:t>
            </a:r>
          </a:p>
          <a:p>
            <a:pPr lvl="1"/>
            <a:r>
              <a:rPr lang="en-US" i="1" dirty="0"/>
              <a:t>Analogy:</a:t>
            </a:r>
            <a:r>
              <a:rPr lang="en-US" dirty="0"/>
              <a:t> Thousands of average workers.</a:t>
            </a:r>
          </a:p>
          <a:p>
            <a:pPr lvl="1"/>
            <a:r>
              <a:rPr lang="en-US" i="1" dirty="0"/>
              <a:t>Solution:</a:t>
            </a:r>
            <a:r>
              <a:rPr lang="en-US" dirty="0"/>
              <a:t> We slice the data into thousands of tiny chunks and assign them simultaneously to the thousands of cores inside GPU. This architecture compresses computation time from minutes down to fractions of a second.</a:t>
            </a:r>
          </a:p>
          <a:p>
            <a:pPr lvl="1"/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02932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468CC-5A2E-7084-FC6E-AC94C4C9C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HPC – Flattening (Restructuring Memory)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88425-3C1F-2571-C3A1-BBA6160C2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Flattening (Restructuring Memory)</a:t>
            </a:r>
          </a:p>
          <a:p>
            <a:pPr lvl="1"/>
            <a:r>
              <a:rPr lang="en-US" b="1" dirty="0"/>
              <a:t>The Problem:</a:t>
            </a:r>
            <a:r>
              <a:rPr lang="en-US" dirty="0"/>
              <a:t> Computer memory (RAM / VRAM) is a 1D linear structure, not 3D. Reading an image 3D array (Width x Height x RGB) directly causes severe cache misses.</a:t>
            </a:r>
          </a:p>
          <a:p>
            <a:pPr lvl="1"/>
            <a:r>
              <a:rPr lang="en-US" b="1" dirty="0"/>
              <a:t>The Solution:</a:t>
            </a:r>
            <a:r>
              <a:rPr lang="en-US" dirty="0"/>
              <a:t> We destroy the original 3D shape and stretch the image into a single, massive </a:t>
            </a:r>
            <a:r>
              <a:rPr lang="en-US" b="1" dirty="0"/>
              <a:t>1D Array (Vector)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The Effect:</a:t>
            </a:r>
            <a:r>
              <a:rPr lang="en-US" dirty="0"/>
              <a:t> This enables </a:t>
            </a:r>
            <a:r>
              <a:rPr lang="en-US" b="1" dirty="0"/>
              <a:t>Coalesced Memory Access</a:t>
            </a:r>
            <a:r>
              <a:rPr lang="en-US" dirty="0"/>
              <a:t>. The thousands of GPU cores can sweep through the data continuously in a single cycle, maximizing throughput.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91781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5E2A1-B018-F7C3-A353-404FA0EA9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HPC – Quantization (Data Compression)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1602D-D941-621B-AD54-4C7A311D8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Problem:</a:t>
            </a:r>
            <a:r>
              <a:rPr lang="en-US" dirty="0"/>
              <a:t> Standard programming numbers (float32) consume massive VRAM and PCIe bandwidth.</a:t>
            </a:r>
          </a:p>
          <a:p>
            <a:r>
              <a:rPr lang="en-US" b="1" dirty="0"/>
              <a:t>The Solution:</a:t>
            </a:r>
            <a:r>
              <a:rPr lang="en-US" dirty="0"/>
              <a:t> We cast the raw pixel data into 8-bit integers (uint8) since RGB values only range from 0 to 255.</a:t>
            </a:r>
          </a:p>
          <a:p>
            <a:r>
              <a:rPr lang="en-US" b="1" dirty="0"/>
              <a:t>The Effect:</a:t>
            </a:r>
            <a:r>
              <a:rPr lang="en-US" dirty="0"/>
              <a:t> This simple type-casting shrinks the memory footprint and transfer time by exactly </a:t>
            </a:r>
            <a:r>
              <a:rPr lang="en-US" b="1" dirty="0"/>
              <a:t>75%</a:t>
            </a:r>
            <a:r>
              <a:rPr lang="en-US" dirty="0"/>
              <a:t>, a crucial optimization for computer.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48627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459EC-31B9-1D70-8E1F-C46A07684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HPC - Example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B2134DA-79EF-733A-4C94-A43851479D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3532509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BFEDAD-3C20-3AE2-94B1-9DF4F3B8AA70}"/>
              </a:ext>
            </a:extLst>
          </p:cNvPr>
          <p:cNvSpPr txBox="1"/>
          <p:nvPr/>
        </p:nvSpPr>
        <p:spPr>
          <a:xfrm>
            <a:off x="4485009" y="2894666"/>
            <a:ext cx="79266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Quantization</a:t>
            </a:r>
            <a:endParaRPr lang="en-US" dirty="0"/>
          </a:p>
          <a:p>
            <a:r>
              <a:rPr lang="en-US" dirty="0"/>
              <a:t>Replaced standard 32-bit float with 16-bit short (Int16).</a:t>
            </a:r>
          </a:p>
          <a:p>
            <a:r>
              <a:rPr lang="en-US" b="1" dirty="0"/>
              <a:t>Result:</a:t>
            </a:r>
            <a:r>
              <a:rPr lang="en-US" dirty="0"/>
              <a:t> Cuts memory footprint and bandwidth requirements </a:t>
            </a:r>
            <a:r>
              <a:rPr lang="en-CA" dirty="0"/>
              <a:t>by exactly 50%.</a:t>
            </a:r>
          </a:p>
          <a:p>
            <a:endParaRPr lang="en-CA" dirty="0"/>
          </a:p>
          <a:p>
            <a:r>
              <a:rPr lang="en-US" b="1" dirty="0"/>
              <a:t>2. Flattening (1D Array)</a:t>
            </a:r>
          </a:p>
          <a:p>
            <a:r>
              <a:rPr lang="en-US" dirty="0"/>
              <a:t>We refuse to use nested structures like </a:t>
            </a:r>
            <a:r>
              <a:rPr lang="en-US" i="1" dirty="0"/>
              <a:t>vector&lt;vector&gt;</a:t>
            </a:r>
            <a:r>
              <a:rPr lang="en-US" dirty="0"/>
              <a:t>. We calculate the absolute total size to enforce a single, contiguous 1D memory block.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788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40A4C-99AB-FFFE-186F-5BE5E4FF7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HPC – Concepts Simplified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67F98-CB80-2550-EB78-0995C2A7A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Flattening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A58C3-0B2B-BA72-0F95-5631D4664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395" y="1768848"/>
            <a:ext cx="3790950" cy="4248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0BEF20-A2D5-D18C-87B5-D013A93B4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592" y="1444998"/>
            <a:ext cx="401002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41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D623-F57E-993B-4C04-E0CD2175E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HPC - Example Simplified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BFDF4-C5B2-69E9-51E5-F0F2DD5E3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Quantization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F8BA0E-E810-252D-3F8A-52396AA2E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29" y="2605554"/>
            <a:ext cx="6472113" cy="2477434"/>
          </a:xfrm>
          <a:prstGeom prst="rect">
            <a:avLst/>
          </a:prstGeom>
        </p:spPr>
      </p:pic>
      <p:pic>
        <p:nvPicPr>
          <p:cNvPr id="5126" name="Picture 6" descr="Digital Communication - Quantization">
            <a:extLst>
              <a:ext uri="{FF2B5EF4-FFF2-40B4-BE49-F238E27FC236}">
                <a16:creationId xmlns:a16="http://schemas.microsoft.com/office/drawing/2014/main" id="{69086912-EDB8-EEE6-779A-CB382C6D2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1700" y="2592901"/>
            <a:ext cx="3768198" cy="2373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071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F9CC8-038B-A958-0847-AD87E3154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Tensor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5F731B-0680-2CE2-499C-8B46355BC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590301"/>
            <a:ext cx="5441576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55E116-9BBE-D451-F5D6-245BA9EB1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775" y="1690687"/>
            <a:ext cx="5313689" cy="425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027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6B6C0-7A21-2D53-D24F-9CF400BB5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Tensor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56A43-6ABC-5877-1D0F-5DF646376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Int x </a:t>
            </a:r>
            <a:r>
              <a:rPr lang="en-CA" dirty="0">
                <a:sym typeface="Wingdings" panose="05000000000000000000" pitchFamily="2" charset="2"/>
              </a:rPr>
              <a:t> scalar</a:t>
            </a:r>
          </a:p>
          <a:p>
            <a:r>
              <a:rPr lang="en-CA" dirty="0">
                <a:sym typeface="Wingdings" panose="05000000000000000000" pitchFamily="2" charset="2"/>
              </a:rPr>
              <a:t>Int x = {}  array(vector, 1D tensor)</a:t>
            </a:r>
          </a:p>
          <a:p>
            <a:r>
              <a:rPr lang="en-CA" dirty="0">
                <a:sym typeface="Wingdings" panose="05000000000000000000" pitchFamily="2" charset="2"/>
              </a:rPr>
              <a:t>vector&lt;vector&lt;int&gt;&gt;  2D array (matrix, 2D tensor)</a:t>
            </a:r>
          </a:p>
          <a:p>
            <a:r>
              <a:rPr lang="en-CA" dirty="0"/>
              <a:t>Vector&lt;vector&lt;vector&lt;int&gt;&gt;&gt; </a:t>
            </a:r>
            <a:r>
              <a:rPr lang="en-CA" dirty="0">
                <a:sym typeface="Wingdings" panose="05000000000000000000" pitchFamily="2" charset="2"/>
              </a:rPr>
              <a:t> 3D array (3D tensor)</a:t>
            </a:r>
          </a:p>
          <a:p>
            <a:r>
              <a:rPr lang="en-CA" dirty="0">
                <a:sym typeface="Wingdings" panose="05000000000000000000" pitchFamily="2" charset="2"/>
              </a:rPr>
              <a:t>….-&gt; </a:t>
            </a:r>
            <a:r>
              <a:rPr lang="en-CA" dirty="0" err="1">
                <a:sym typeface="Wingdings" panose="05000000000000000000" pitchFamily="2" charset="2"/>
              </a:rPr>
              <a:t>nD</a:t>
            </a:r>
            <a:r>
              <a:rPr lang="en-CA" dirty="0">
                <a:sym typeface="Wingdings" panose="05000000000000000000" pitchFamily="2" charset="2"/>
              </a:rPr>
              <a:t> tensor</a:t>
            </a:r>
            <a:br>
              <a:rPr lang="en-CA" dirty="0">
                <a:sym typeface="Wingdings" panose="05000000000000000000" pitchFamily="2" charset="2"/>
              </a:rPr>
            </a:br>
            <a:endParaRPr lang="en-CA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CA" dirty="0">
                <a:sym typeface="Wingdings" panose="05000000000000000000" pitchFamily="2" charset="2"/>
              </a:rPr>
              <a:t> If you can use array, it also means you can handle tensor too!</a:t>
            </a:r>
            <a:br>
              <a:rPr lang="en-CA" dirty="0">
                <a:sym typeface="Wingdings" panose="05000000000000000000" pitchFamily="2" charset="2"/>
              </a:rPr>
            </a:br>
            <a:endParaRPr lang="en-CA" dirty="0">
              <a:sym typeface="Wingdings" panose="05000000000000000000" pitchFamily="2" charset="2"/>
            </a:endParaRPr>
          </a:p>
          <a:p>
            <a:r>
              <a:rPr lang="en-CA" dirty="0">
                <a:sym typeface="Wingdings" panose="05000000000000000000" pitchFamily="2" charset="2"/>
              </a:rPr>
              <a:t>So, AI framework TensorFlow means, a lib that makes handling </a:t>
            </a:r>
            <a:br>
              <a:rPr lang="en-CA" dirty="0">
                <a:sym typeface="Wingdings" panose="05000000000000000000" pitchFamily="2" charset="2"/>
              </a:rPr>
            </a:br>
            <a:r>
              <a:rPr lang="en-CA" dirty="0">
                <a:sym typeface="Wingdings" panose="05000000000000000000" pitchFamily="2" charset="2"/>
              </a:rPr>
              <a:t>n-D dimension calculation easier(</a:t>
            </a:r>
            <a:r>
              <a:rPr lang="en-CA" dirty="0" err="1">
                <a:sym typeface="Wingdings" panose="05000000000000000000" pitchFamily="2" charset="2"/>
              </a:rPr>
              <a:t>kinda</a:t>
            </a:r>
            <a:r>
              <a:rPr lang="en-CA" dirty="0">
                <a:sym typeface="Wingdings" panose="05000000000000000000" pitchFamily="2" charset="2"/>
              </a:rPr>
              <a:t>).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60799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2FC6-AF22-A98B-829E-97CE25B61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Tensor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BBCE7-B70A-5414-FD45-A8146C8F4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Why are we using tensor for this project?</a:t>
            </a:r>
            <a:br>
              <a:rPr lang="en-CA" dirty="0"/>
            </a:br>
            <a:br>
              <a:rPr lang="en-CA" dirty="0"/>
            </a:br>
            <a:r>
              <a:rPr lang="en-CA" dirty="0">
                <a:sym typeface="Wingdings" panose="05000000000000000000" pitchFamily="2" charset="2"/>
              </a:rPr>
              <a:t> </a:t>
            </a:r>
            <a:r>
              <a:rPr lang="en-US" dirty="0">
                <a:sym typeface="Wingdings" panose="05000000000000000000" pitchFamily="2" charset="2"/>
              </a:rPr>
              <a:t>A single chunk of video is actually a massive 4D Tensor data structure: </a:t>
            </a:r>
            <a:r>
              <a:rPr lang="en-US" b="1" dirty="0">
                <a:sym typeface="Wingdings" panose="05000000000000000000" pitchFamily="2" charset="2"/>
              </a:rPr>
              <a:t>N (Frames) x Height x Width x 3(RGB). </a:t>
            </a:r>
            <a:r>
              <a:rPr lang="en-US" dirty="0"/>
              <a:t>To handle this terrifying amount of data efficiently, we need to know how to "flatten" this 4D tensor into a 1D array. Understanding this "Tensor" concept is the only way we can mathematically calculate and extract the core "Image Vector" without melting our CPUs and GPUs.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07466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C5231-F78A-65AB-ED41-83C146CF6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Image Vectorization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F2B96-795D-BC7D-381B-69557F2A0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Image Vectorization (From Memory to Math)</a:t>
            </a:r>
          </a:p>
          <a:p>
            <a:r>
              <a:rPr lang="en-CA" dirty="0"/>
              <a:t>The Paradigm Shift:</a:t>
            </a:r>
          </a:p>
          <a:p>
            <a:pPr lvl="1"/>
            <a:r>
              <a:rPr lang="en-US" b="1" dirty="0"/>
              <a:t>Flattening</a:t>
            </a:r>
            <a:r>
              <a:rPr lang="en-US" dirty="0"/>
              <a:t> is a hardware concept (organizing memory for the GPU or CPU)</a:t>
            </a:r>
          </a:p>
          <a:p>
            <a:pPr lvl="1"/>
            <a:r>
              <a:rPr lang="en-US" b="1" dirty="0"/>
              <a:t>Vectorization</a:t>
            </a:r>
            <a:r>
              <a:rPr lang="en-US" dirty="0"/>
              <a:t> is a mathematical concept. Once flattened, the image is no longer a "picture"; it is a pure mathematical </a:t>
            </a:r>
            <a:r>
              <a:rPr lang="en-US" b="1" dirty="0"/>
              <a:t>Vector</a:t>
            </a:r>
            <a:r>
              <a:rPr lang="en-US" dirty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53372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2B83-078B-3D11-7C41-552F665CE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Image Vectorization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449F4-D5B0-7F01-CC5A-856ADAFAE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Vector in this context?</a:t>
            </a:r>
          </a:p>
          <a:p>
            <a:pPr lvl="1"/>
            <a:r>
              <a:rPr lang="en-US" dirty="0"/>
              <a:t>A single number represents a point on a 1D line.</a:t>
            </a:r>
          </a:p>
          <a:p>
            <a:pPr lvl="1"/>
            <a:r>
              <a:rPr lang="en-US" dirty="0"/>
              <a:t>Two numbers (X, Y) represent a point on a 2D plane.</a:t>
            </a:r>
          </a:p>
          <a:p>
            <a:pPr lvl="1"/>
            <a:r>
              <a:rPr lang="en-US" dirty="0"/>
              <a:t>Therefore, a flattened frame with 150,528 numbers (224 x 224 x 3) is exactly </a:t>
            </a:r>
            <a:r>
              <a:rPr lang="en-US" b="1" dirty="0"/>
              <a:t>one single coordinate point</a:t>
            </a:r>
            <a:r>
              <a:rPr lang="en-US" dirty="0"/>
              <a:t> in a 150,528-dimensional mathematical space.</a:t>
            </a:r>
          </a:p>
          <a:p>
            <a:r>
              <a:rPr lang="en-CA" dirty="0"/>
              <a:t>Why do we do this?</a:t>
            </a:r>
          </a:p>
          <a:p>
            <a:pPr lvl="1"/>
            <a:r>
              <a:rPr lang="en-US" dirty="0"/>
              <a:t>Computers cannot "see" images or understand pixels.</a:t>
            </a:r>
          </a:p>
          <a:p>
            <a:pPr lvl="1"/>
            <a:r>
              <a:rPr lang="en-US" dirty="0"/>
              <a:t>However, computers are incredibly fast at calculating geometry. By turning an image into a point in space, we can easily calculate distances and angles to compare them.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80644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3BF3-B36F-0011-B1BF-B808CC084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Image Vectorization - visualization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1CC05B-3749-DC2C-BF09-8E02CDF8EE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088" y="2516141"/>
            <a:ext cx="1825718" cy="1825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124B5A-7FCC-BE18-816C-5EE878E2D8AD}"/>
              </a:ext>
            </a:extLst>
          </p:cNvPr>
          <p:cNvSpPr txBox="1"/>
          <p:nvPr/>
        </p:nvSpPr>
        <p:spPr>
          <a:xfrm>
            <a:off x="3684497" y="2951544"/>
            <a:ext cx="3361764" cy="64633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dirty="0"/>
              <a:t>[ 124, 45, 210, 0, 18, ... , 255 ]</a:t>
            </a:r>
          </a:p>
          <a:p>
            <a:pPr algn="ctr"/>
            <a:r>
              <a:rPr lang="en-US" dirty="0"/>
              <a:t>Flattened Array </a:t>
            </a:r>
            <a:endParaRPr lang="en-CA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6103E1-D58F-8988-6AA5-489B01AEEB1C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374806" y="3429000"/>
            <a:ext cx="9600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57ECC3-109B-EA81-468F-06836C406AFB}"/>
              </a:ext>
            </a:extLst>
          </p:cNvPr>
          <p:cNvCxnSpPr/>
          <p:nvPr/>
        </p:nvCxnSpPr>
        <p:spPr>
          <a:xfrm flipV="1">
            <a:off x="8626288" y="1690688"/>
            <a:ext cx="0" cy="22658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F35CE37-6E23-D871-3511-EF55DED6CEE6}"/>
              </a:ext>
            </a:extLst>
          </p:cNvPr>
          <p:cNvCxnSpPr>
            <a:cxnSpLocks/>
          </p:cNvCxnSpPr>
          <p:nvPr/>
        </p:nvCxnSpPr>
        <p:spPr>
          <a:xfrm flipH="1">
            <a:off x="7387760" y="3956518"/>
            <a:ext cx="1238528" cy="972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BF566D2-DFC2-3365-33CB-B60748A6A34B}"/>
              </a:ext>
            </a:extLst>
          </p:cNvPr>
          <p:cNvCxnSpPr/>
          <p:nvPr/>
        </p:nvCxnSpPr>
        <p:spPr>
          <a:xfrm>
            <a:off x="8626288" y="3956518"/>
            <a:ext cx="2427194" cy="6118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4D197E90-53CD-E811-0CA1-F25E69940205}"/>
              </a:ext>
            </a:extLst>
          </p:cNvPr>
          <p:cNvSpPr/>
          <p:nvPr/>
        </p:nvSpPr>
        <p:spPr>
          <a:xfrm>
            <a:off x="9295284" y="3133165"/>
            <a:ext cx="194974" cy="16583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6E8A13B-D517-9FEE-FA7F-6FE1E8C4242A}"/>
              </a:ext>
            </a:extLst>
          </p:cNvPr>
          <p:cNvCxnSpPr>
            <a:endCxn id="20" idx="3"/>
          </p:cNvCxnSpPr>
          <p:nvPr/>
        </p:nvCxnSpPr>
        <p:spPr>
          <a:xfrm flipV="1">
            <a:off x="8626288" y="3274710"/>
            <a:ext cx="697549" cy="681808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712E909-6BD7-20E9-CA75-A89C29205EE6}"/>
              </a:ext>
            </a:extLst>
          </p:cNvPr>
          <p:cNvSpPr/>
          <p:nvPr/>
        </p:nvSpPr>
        <p:spPr>
          <a:xfrm>
            <a:off x="8693528" y="2372496"/>
            <a:ext cx="1842244" cy="6118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Image’s Vector points A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D6D19E-0746-FEFB-A5F5-FE27DC0879FC}"/>
              </a:ext>
            </a:extLst>
          </p:cNvPr>
          <p:cNvCxnSpPr>
            <a:cxnSpLocks/>
          </p:cNvCxnSpPr>
          <p:nvPr/>
        </p:nvCxnSpPr>
        <p:spPr>
          <a:xfrm>
            <a:off x="7046262" y="3431914"/>
            <a:ext cx="10541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E668C60-4665-5B06-AB05-E09FE210DFE9}"/>
              </a:ext>
            </a:extLst>
          </p:cNvPr>
          <p:cNvSpPr txBox="1"/>
          <p:nvPr/>
        </p:nvSpPr>
        <p:spPr>
          <a:xfrm>
            <a:off x="8390965" y="1277471"/>
            <a:ext cx="59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D_1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5A45DE-B009-502C-2F8D-5726040A4EA1}"/>
              </a:ext>
            </a:extLst>
          </p:cNvPr>
          <p:cNvSpPr txBox="1"/>
          <p:nvPr/>
        </p:nvSpPr>
        <p:spPr>
          <a:xfrm>
            <a:off x="6864724" y="5009030"/>
            <a:ext cx="705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D_2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68A747-6820-8020-7C31-A3314C1C05BE}"/>
              </a:ext>
            </a:extLst>
          </p:cNvPr>
          <p:cNvSpPr txBox="1"/>
          <p:nvPr/>
        </p:nvSpPr>
        <p:spPr>
          <a:xfrm>
            <a:off x="10992971" y="4568359"/>
            <a:ext cx="632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D_3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F1B587-7F9B-8E6A-5CD0-91503C8EF65D}"/>
              </a:ext>
            </a:extLst>
          </p:cNvPr>
          <p:cNvSpPr txBox="1"/>
          <p:nvPr/>
        </p:nvSpPr>
        <p:spPr>
          <a:xfrm>
            <a:off x="4115920" y="5611183"/>
            <a:ext cx="3960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Single Frame in Vector Space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E2B3F8-583E-FC42-7C81-2C656C1BC70A}"/>
              </a:ext>
            </a:extLst>
          </p:cNvPr>
          <p:cNvSpPr txBox="1"/>
          <p:nvPr/>
        </p:nvSpPr>
        <p:spPr>
          <a:xfrm>
            <a:off x="10301290" y="3429000"/>
            <a:ext cx="18907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Computer can understand an image now!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7A9F88F-0592-1519-3A54-264F4EB8DE29}"/>
              </a:ext>
            </a:extLst>
          </p:cNvPr>
          <p:cNvCxnSpPr>
            <a:endCxn id="23" idx="2"/>
          </p:cNvCxnSpPr>
          <p:nvPr/>
        </p:nvCxnSpPr>
        <p:spPr>
          <a:xfrm flipH="1" flipV="1">
            <a:off x="9614650" y="2984337"/>
            <a:ext cx="719415" cy="525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779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B63C4-D20A-A92B-E8D5-6DA5641E1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Embedding Space - General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7E93D-89FD-E7A7-4C4D-6EBB320D0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an Embedding Space?</a:t>
            </a:r>
          </a:p>
          <a:p>
            <a:r>
              <a:rPr lang="en-US" dirty="0"/>
              <a:t>1. </a:t>
            </a:r>
            <a:r>
              <a:rPr lang="en-US" b="1" dirty="0"/>
              <a:t>The Universal Translator (General Definition):</a:t>
            </a:r>
            <a:endParaRPr lang="en-US" dirty="0"/>
          </a:p>
          <a:p>
            <a:pPr lvl="1"/>
            <a:r>
              <a:rPr lang="en-US" dirty="0"/>
              <a:t>Computers are "Number Crunchers." They cannot understand the concept of a 'Cat', a 'Word', or a 'Video’.</a:t>
            </a:r>
          </a:p>
          <a:p>
            <a:pPr lvl="1"/>
            <a:r>
              <a:rPr lang="en-US" b="1" dirty="0"/>
              <a:t>Embedding</a:t>
            </a:r>
            <a:r>
              <a:rPr lang="en-US" dirty="0"/>
              <a:t> is the process of translating these human concepts into a language computers love: </a:t>
            </a:r>
            <a:r>
              <a:rPr lang="en-US" b="1" dirty="0"/>
              <a:t>Vectors (Lists of numbers).</a:t>
            </a:r>
            <a:endParaRPr lang="en-CA" b="1" dirty="0"/>
          </a:p>
          <a:p>
            <a:pPr lvl="1"/>
            <a:r>
              <a:rPr lang="en-US" b="1" dirty="0"/>
              <a:t>The Embedding Space</a:t>
            </a:r>
            <a:r>
              <a:rPr lang="en-US" dirty="0"/>
              <a:t> is the digital map where these translated concepts live.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876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8A060-9AD0-4875-9432-486815040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Embedding Space - General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FDACB-6E60-570C-5A9A-B04D5B199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2. The Law of Geometry (Similarity = Distance):</a:t>
            </a:r>
          </a:p>
          <a:p>
            <a:pPr lvl="1"/>
            <a:r>
              <a:rPr lang="en-US" dirty="0"/>
              <a:t>In the real world, we say "Apple and Pear are similar.“</a:t>
            </a:r>
          </a:p>
          <a:p>
            <a:pPr lvl="1"/>
            <a:r>
              <a:rPr lang="en-US" dirty="0"/>
              <a:t>In an Embedding Space, we say "The distance between the Apple vector and the Pear vector is small.“</a:t>
            </a:r>
          </a:p>
          <a:p>
            <a:pPr lvl="1"/>
            <a:r>
              <a:rPr lang="en-US" dirty="0"/>
              <a:t>This allows us to perform </a:t>
            </a:r>
            <a:r>
              <a:rPr lang="en-US" b="1" dirty="0"/>
              <a:t>Calculus on Meanings.</a:t>
            </a:r>
            <a:r>
              <a:rPr lang="en-US" dirty="0"/>
              <a:t> We can add, subtract, and find the average of images just by using their coordinates.</a:t>
            </a:r>
            <a:br>
              <a:rPr lang="en-US" dirty="0"/>
            </a:br>
            <a:endParaRPr lang="en-US" dirty="0"/>
          </a:p>
          <a:p>
            <a:r>
              <a:rPr lang="en-CA" b="1" dirty="0"/>
              <a:t>3. Feature Mapping:</a:t>
            </a:r>
          </a:p>
          <a:p>
            <a:pPr lvl="1"/>
            <a:r>
              <a:rPr lang="en-US" dirty="0"/>
              <a:t>Each axis in this space represents a specific "Feature" (though in high-dimensional space, these features are often too complex for humans to name).</a:t>
            </a:r>
          </a:p>
          <a:p>
            <a:pPr lvl="1"/>
            <a:r>
              <a:rPr lang="en-US" dirty="0"/>
              <a:t>By placing data in this space, we turn </a:t>
            </a:r>
            <a:r>
              <a:rPr lang="en-US" b="1" dirty="0"/>
              <a:t>Visual Recognition</a:t>
            </a:r>
            <a:r>
              <a:rPr lang="en-US" dirty="0"/>
              <a:t> into a </a:t>
            </a:r>
            <a:r>
              <a:rPr lang="en-US" b="1" dirty="0"/>
              <a:t>Simple Geometry Problem.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16995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45435-5A6F-D5BD-CDF3-3D36DA6E6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Embedding Space – Visualization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B1D8D8-937E-9B0B-B161-1F085D68F3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23172"/>
            <a:ext cx="10515600" cy="36116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ECCE0D-E2DE-8364-921F-47A137A4CFF7}"/>
              </a:ext>
            </a:extLst>
          </p:cNvPr>
          <p:cNvSpPr txBox="1"/>
          <p:nvPr/>
        </p:nvSpPr>
        <p:spPr>
          <a:xfrm>
            <a:off x="3665444" y="5654489"/>
            <a:ext cx="4861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Far distance = less relevant</a:t>
            </a:r>
          </a:p>
          <a:p>
            <a:pPr algn="ctr"/>
            <a:r>
              <a:rPr lang="en-CA" dirty="0"/>
              <a:t>Near distance = more relevant</a:t>
            </a:r>
          </a:p>
        </p:txBody>
      </p:sp>
    </p:spTree>
    <p:extLst>
      <p:ext uri="{BB962C8B-B14F-4D97-AF65-F5344CB8AC3E}">
        <p14:creationId xmlns:p14="http://schemas.microsoft.com/office/powerpoint/2010/main" val="1266891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2B594-1F24-6082-15FA-9DBCE835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Embedding Space - Visualization</a:t>
            </a:r>
          </a:p>
        </p:txBody>
      </p:sp>
      <p:pic>
        <p:nvPicPr>
          <p:cNvPr id="1026" name="Picture 2" descr="Word Embedding Demo: Tutorial">
            <a:extLst>
              <a:ext uri="{FF2B5EF4-FFF2-40B4-BE49-F238E27FC236}">
                <a16:creationId xmlns:a16="http://schemas.microsoft.com/office/drawing/2014/main" id="{24A61AF2-357F-3758-687D-C8B18DA5701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62" y="1633818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92FBDC-3C26-3193-0AB0-A661230E4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716" y="1862418"/>
            <a:ext cx="6274714" cy="37987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2838FE-6D4C-3328-D1D2-92165CE6810E}"/>
              </a:ext>
            </a:extLst>
          </p:cNvPr>
          <p:cNvSpPr txBox="1"/>
          <p:nvPr/>
        </p:nvSpPr>
        <p:spPr>
          <a:xfrm>
            <a:off x="2703979" y="6056591"/>
            <a:ext cx="6784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Computer understands words, contexts, or images in this way!</a:t>
            </a:r>
          </a:p>
        </p:txBody>
      </p:sp>
    </p:spTree>
    <p:extLst>
      <p:ext uri="{BB962C8B-B14F-4D97-AF65-F5344CB8AC3E}">
        <p14:creationId xmlns:p14="http://schemas.microsoft.com/office/powerpoint/2010/main" val="38011026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0727D-0499-A10D-9449-A6E556446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Embedding Space – In this </a:t>
            </a:r>
            <a:r>
              <a:rPr lang="en-CA" dirty="0" err="1"/>
              <a:t>proj</a:t>
            </a:r>
            <a:r>
              <a:rPr lang="en-CA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4BA11-1057-BD52-8E86-4C1F00C27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Meaning in Our Project (The Application):</a:t>
            </a:r>
          </a:p>
          <a:p>
            <a:pPr lvl="1"/>
            <a:r>
              <a:rPr lang="en-US" b="1" dirty="0"/>
              <a:t>Our Universe:</a:t>
            </a:r>
            <a:r>
              <a:rPr lang="en-US" dirty="0"/>
              <a:t> A massive mathematical space created by our flattened 1D arrays (e.g., 150,528 dimensions).</a:t>
            </a:r>
          </a:p>
          <a:p>
            <a:pPr lvl="1"/>
            <a:r>
              <a:rPr lang="en-US" b="1" dirty="0"/>
              <a:t>The Cluster:</a:t>
            </a:r>
            <a:r>
              <a:rPr lang="en-US" dirty="0"/>
              <a:t> When we process 0.5 seconds of video, we plot exactly 15 points into this space. Because they are consecutive frames, they naturally group together to form a localized "Cloud" (Cluster).</a:t>
            </a:r>
          </a:p>
          <a:p>
            <a:pPr lvl="1"/>
            <a:r>
              <a:rPr lang="en-US" b="1" dirty="0"/>
              <a:t>The Ultimate Goal:</a:t>
            </a:r>
            <a:r>
              <a:rPr lang="en-US" dirty="0"/>
              <a:t> By calculating the absolute center (</a:t>
            </a:r>
            <a:r>
              <a:rPr lang="en-US" b="1" dirty="0"/>
              <a:t>Centroid / Mean Vector</a:t>
            </a:r>
            <a:r>
              <a:rPr lang="en-US" dirty="0"/>
              <a:t>) of this 15-point cloud, we find the mathematical "average" of that 0.5-second moment. The real frame closest to this center is our optimal Keyframe.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26463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DE90C-90E9-6D32-017E-8E31D723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Searching algorithm in Vector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EF332-1E37-70CE-06D7-E9534C392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So, How can we find key frame among 15 frames?</a:t>
            </a:r>
          </a:p>
          <a:p>
            <a:pPr marL="0" indent="0">
              <a:buNone/>
            </a:pPr>
            <a:r>
              <a:rPr lang="en-US" b="1" dirty="0"/>
              <a:t>Searching the Space: Finding the "True" Keyframe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US" b="1" dirty="0"/>
              <a:t>Step 1: The "Ghost" Frame (Mean Vector)</a:t>
            </a:r>
          </a:p>
          <a:p>
            <a:pPr lvl="1"/>
            <a:r>
              <a:rPr lang="en-US" dirty="0"/>
              <a:t>We calculate the arithmetic mean of the 15 frames in our cluster.</a:t>
            </a:r>
          </a:p>
          <a:p>
            <a:pPr lvl="1"/>
            <a:r>
              <a:rPr lang="en-US" dirty="0"/>
              <a:t>However, this Mean Vector is a mathematical illusion (a blurry mix of 15 frames). We cannot show this to the user. We must find a Real Frame that is closest to this center.</a:t>
            </a:r>
          </a:p>
        </p:txBody>
      </p:sp>
    </p:spTree>
    <p:extLst>
      <p:ext uri="{BB962C8B-B14F-4D97-AF65-F5344CB8AC3E}">
        <p14:creationId xmlns:p14="http://schemas.microsoft.com/office/powerpoint/2010/main" val="5380227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29CC7-F0D9-3205-B587-9A7D4306B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Searching algorithm in Vector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7E015-4AB3-E6F4-1C83-D8E990CCC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2: How do we measure "Close"? (Cosine Similarity)</a:t>
            </a:r>
            <a:endParaRPr lang="en-CA" b="1" dirty="0"/>
          </a:p>
          <a:p>
            <a:pPr lvl="1"/>
            <a:r>
              <a:rPr lang="en-US" b="1" dirty="0"/>
              <a:t>The Metric:</a:t>
            </a:r>
            <a:r>
              <a:rPr lang="en-US" dirty="0"/>
              <a:t> We use </a:t>
            </a:r>
            <a:r>
              <a:rPr lang="en-US" b="1" dirty="0"/>
              <a:t>Cosine Similarity</a:t>
            </a:r>
            <a:r>
              <a:rPr lang="en-US" dirty="0"/>
              <a:t> to measure the </a:t>
            </a:r>
            <a:r>
              <a:rPr lang="en-US" b="1" dirty="0"/>
              <a:t>Angle</a:t>
            </a:r>
            <a:r>
              <a:rPr lang="en-US" dirty="0"/>
              <a:t> between the Mean Vector and the Real Frame Vectors, ignoring their length (magnitude).</a:t>
            </a:r>
          </a:p>
          <a:p>
            <a:pPr lvl="1"/>
            <a:r>
              <a:rPr lang="en-US" b="1" dirty="0"/>
              <a:t>Why Angle? (Robustness):</a:t>
            </a:r>
            <a:r>
              <a:rPr lang="en-US" dirty="0"/>
              <a:t> In image processing, the "length" of a vector often represents overall brightness, while the "direction" represents the actual pattern (shapes/colors).</a:t>
            </a:r>
          </a:p>
          <a:p>
            <a:pPr lvl="1"/>
            <a:r>
              <a:rPr lang="en-US" dirty="0"/>
              <a:t>By measuring only the angle, our algorithm can recognize that two frames show the exact same scene, even if one is slightly darker than the other.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349141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9597D-9AF7-8885-C353-1FB616F11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Cosine Similarity &amp; L2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6260C-BBEC-7F3B-F710-1E70A95E0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Searching Algorithms: Speed &amp; Efficiency</a:t>
            </a:r>
          </a:p>
          <a:p>
            <a:r>
              <a:rPr lang="en-US" dirty="0"/>
              <a:t>Method 1: Cosine Similarity &amp; L2 Distance</a:t>
            </a:r>
          </a:p>
          <a:p>
            <a:pPr lvl="1"/>
            <a:r>
              <a:rPr lang="en-US" dirty="0"/>
              <a:t>How it works: Directly calculates the angle (Cosine) or straight-line distance (L2) between the Mean Vector and frame vectors.</a:t>
            </a:r>
          </a:p>
          <a:p>
            <a:pPr lvl="1"/>
            <a:r>
              <a:rPr lang="en-US" b="1" dirty="0"/>
              <a:t>Performance:</a:t>
            </a:r>
            <a:r>
              <a:rPr lang="en-US" dirty="0"/>
              <a:t> Blazingly fast. Perfectly optimized for our C++ CPU architecture (utilizing hardware SIMD instructions).</a:t>
            </a:r>
          </a:p>
          <a:p>
            <a:pPr lvl="1"/>
            <a:r>
              <a:rPr lang="en-US" b="1" dirty="0"/>
              <a:t>Pros:</a:t>
            </a:r>
            <a:r>
              <a:rPr lang="en-US" dirty="0"/>
              <a:t> Ideal for massive datasets or real-time processing where speed is the absolute priority.</a:t>
            </a:r>
          </a:p>
          <a:p>
            <a:pPr lvl="1"/>
            <a:r>
              <a:rPr lang="en-US" b="1" dirty="0"/>
              <a:t>Cons:</a:t>
            </a:r>
            <a:r>
              <a:rPr lang="en-US" dirty="0"/>
              <a:t> Treats all pixel data equally, meaning static background pixels might overpower the important moving objects.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67902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D82B0-00E1-E099-BCB5-BC0006E30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Cosine Similarity &amp; L2 Normalization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11F57-3BED-5547-322B-3C7DC675A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5475"/>
            <a:ext cx="12192000" cy="30670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B96249-BE6E-0494-36D6-51BE8CB8D254}"/>
              </a:ext>
            </a:extLst>
          </p:cNvPr>
          <p:cNvSpPr txBox="1"/>
          <p:nvPr/>
        </p:nvSpPr>
        <p:spPr>
          <a:xfrm>
            <a:off x="4448735" y="5355570"/>
            <a:ext cx="3294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Cosine Similarity</a:t>
            </a:r>
          </a:p>
        </p:txBody>
      </p:sp>
    </p:spTree>
    <p:extLst>
      <p:ext uri="{BB962C8B-B14F-4D97-AF65-F5344CB8AC3E}">
        <p14:creationId xmlns:p14="http://schemas.microsoft.com/office/powerpoint/2010/main" val="2144534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DFA5-81C4-289E-D8D7-BF1B31028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Cosine Similarity &amp; L2 Normalization</a:t>
            </a:r>
          </a:p>
        </p:txBody>
      </p:sp>
      <p:pic>
        <p:nvPicPr>
          <p:cNvPr id="5122" name="Picture 2" descr="2D cluster graph with a superimposed triangle to measure distance.">
            <a:extLst>
              <a:ext uri="{FF2B5EF4-FFF2-40B4-BE49-F238E27FC236}">
                <a16:creationId xmlns:a16="http://schemas.microsoft.com/office/drawing/2014/main" id="{0DE65C8C-F70A-A577-8583-E7E50BDC251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617276"/>
            <a:ext cx="4533333" cy="3517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62E24D-E4F2-B1B1-E94B-9A0387AD8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329" y="1890741"/>
            <a:ext cx="5915024" cy="30765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60B97D-D9E7-1262-CCC4-F9F09AB93459}"/>
              </a:ext>
            </a:extLst>
          </p:cNvPr>
          <p:cNvSpPr txBox="1"/>
          <p:nvPr/>
        </p:nvSpPr>
        <p:spPr>
          <a:xfrm>
            <a:off x="4146176" y="5397849"/>
            <a:ext cx="3899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L2 Normalization</a:t>
            </a:r>
          </a:p>
          <a:p>
            <a:pPr algn="ctr"/>
            <a:r>
              <a:rPr lang="en-CA" dirty="0"/>
              <a:t>Just finding the smallest distance</a:t>
            </a:r>
          </a:p>
        </p:txBody>
      </p:sp>
    </p:spTree>
    <p:extLst>
      <p:ext uri="{BB962C8B-B14F-4D97-AF65-F5344CB8AC3E}">
        <p14:creationId xmlns:p14="http://schemas.microsoft.com/office/powerpoint/2010/main" val="454536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685B2-D547-31F7-9590-672963BD2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Cosine Similarity &amp; L2 Normalization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9E01D1D-F414-7DC5-DEFF-039CFD8B1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3730" y="1825625"/>
            <a:ext cx="43445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539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93BB4-FFEE-59B7-6054-50AA5AB57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Error (The XY Coordinate Trap)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F205C-E40C-66B1-9058-22B8FE68C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Critical Pitfall - The XY Coordinate Trap</a:t>
            </a:r>
            <a:endParaRPr lang="en-CA" dirty="0"/>
          </a:p>
          <a:p>
            <a:r>
              <a:rPr lang="en-US" b="1" dirty="0"/>
              <a:t>The Illusion of 5D Tensors:</a:t>
            </a:r>
          </a:p>
          <a:p>
            <a:pPr lvl="1"/>
            <a:r>
              <a:rPr lang="en-US" dirty="0"/>
              <a:t>It seems logical to add spatial coordinates (X, Y) to the RGB data to create a 5D Tensor </a:t>
            </a:r>
            <a:r>
              <a:rPr lang="en-US" i="1" dirty="0"/>
              <a:t>[R, G, B, X, Y].</a:t>
            </a:r>
          </a:p>
          <a:p>
            <a:pPr lvl="1"/>
            <a:r>
              <a:rPr lang="en-US" b="1" i="1" dirty="0"/>
              <a:t>Hypothesis:</a:t>
            </a:r>
            <a:r>
              <a:rPr lang="en-US" dirty="0"/>
              <a:t> The computer will know exactly where the colors are located on the screen.</a:t>
            </a:r>
          </a:p>
          <a:p>
            <a:r>
              <a:rPr lang="en-CA" b="1" dirty="0"/>
              <a:t>The Mathematical Collapse:</a:t>
            </a:r>
          </a:p>
          <a:p>
            <a:pPr lvl="1"/>
            <a:r>
              <a:rPr lang="en-US" b="1" dirty="0"/>
              <a:t>Scale Imbalance:</a:t>
            </a:r>
            <a:r>
              <a:rPr lang="en-US" dirty="0"/>
              <a:t> RGB values fluctuate slightly between 0 and 255. However, X and Y coordinates are massive absolute constants (e.g., 0 to 1920).</a:t>
            </a:r>
          </a:p>
          <a:p>
            <a:pPr lvl="1"/>
            <a:r>
              <a:rPr lang="en-US" b="1" dirty="0"/>
              <a:t>The Dominance Effect:</a:t>
            </a:r>
            <a:r>
              <a:rPr lang="en-US" dirty="0"/>
              <a:t> In distance calculations (like Cosine or L2), the massive X and Y constants completely overpower the tiny RGB variations.</a:t>
            </a:r>
          </a:p>
        </p:txBody>
      </p:sp>
    </p:spTree>
    <p:extLst>
      <p:ext uri="{BB962C8B-B14F-4D97-AF65-F5344CB8AC3E}">
        <p14:creationId xmlns:p14="http://schemas.microsoft.com/office/powerpoint/2010/main" val="20426996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C1873-3D5E-D5AB-A8CD-45A7AA12A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Error (The XY Coordinate Trap)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E3336-49CD-ACBB-0FF6-1E1D9872B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/>
              <a:t>The Disastrous Result:</a:t>
            </a:r>
          </a:p>
          <a:p>
            <a:pPr lvl="1"/>
            <a:r>
              <a:rPr lang="en-US" dirty="0"/>
              <a:t>The algorithm will look at a completely Black frame and a completely White frame and conclude: </a:t>
            </a:r>
            <a:r>
              <a:rPr lang="en-US" i="1" dirty="0"/>
              <a:t>"Because their XY coordinate arrays are identical, these two frames are 99.9% identical.“</a:t>
            </a:r>
          </a:p>
          <a:p>
            <a:pPr lvl="1"/>
            <a:r>
              <a:rPr lang="en-US" b="1" dirty="0"/>
              <a:t>Conclusion:</a:t>
            </a:r>
            <a:r>
              <a:rPr lang="en-US" dirty="0"/>
              <a:t> We must flatten pure pixel data (RGB only) to maintain mathematical integrity in the embedding space.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231351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98776-C9DD-E78A-64D5-7F8ABCA78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Project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54432-61B9-6489-E5EC-E0EAAAA7F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The Full C++ Pipeline (From Video to Keyframe)</a:t>
            </a:r>
            <a:endParaRPr lang="en-CA" b="1" dirty="0"/>
          </a:p>
          <a:p>
            <a:r>
              <a:rPr lang="en-CA" b="1" dirty="0"/>
              <a:t>Decoding (OpenCV / </a:t>
            </a:r>
            <a:r>
              <a:rPr lang="en-CA" b="1" dirty="0" err="1"/>
              <a:t>FFmpeg</a:t>
            </a:r>
            <a:r>
              <a:rPr lang="en-CA" b="1" dirty="0"/>
              <a:t>):</a:t>
            </a:r>
          </a:p>
          <a:p>
            <a:pPr lvl="1"/>
            <a:r>
              <a:rPr lang="en-US" dirty="0"/>
              <a:t>Extract raw 3D pixel arrays (RGB) from the compressed .mp4 file.</a:t>
            </a:r>
            <a:endParaRPr lang="en-CA" dirty="0"/>
          </a:p>
          <a:p>
            <a:r>
              <a:rPr lang="en-CA" b="1" dirty="0"/>
              <a:t>HPC Memory Prep:</a:t>
            </a:r>
          </a:p>
          <a:p>
            <a:pPr lvl="1"/>
            <a:r>
              <a:rPr lang="en-US" dirty="0"/>
              <a:t>Quantization: Cast 32-bit floats to 16-bit/8-bit integers to halve memory usage.</a:t>
            </a:r>
          </a:p>
          <a:p>
            <a:pPr lvl="1"/>
            <a:r>
              <a:rPr lang="en-US" dirty="0"/>
              <a:t>Flattening: Stretch the 3D arrays into massive contiguous 1D Vectors (150,528 dimensions).</a:t>
            </a:r>
            <a:endParaRPr lang="en-CA" dirty="0"/>
          </a:p>
          <a:p>
            <a:r>
              <a:rPr lang="en-CA" b="1" dirty="0"/>
              <a:t>Space Mapping:</a:t>
            </a:r>
          </a:p>
          <a:p>
            <a:pPr lvl="1"/>
            <a:r>
              <a:rPr lang="en-US" dirty="0"/>
              <a:t>Plot 15 consecutive frames (0.5s segment) into the high-dimensional Embedding Space.</a:t>
            </a:r>
            <a:endParaRPr lang="en-CA" dirty="0"/>
          </a:p>
          <a:p>
            <a:r>
              <a:rPr lang="en-CA" b="1" dirty="0"/>
              <a:t>Calculus on Meanings:</a:t>
            </a:r>
          </a:p>
          <a:p>
            <a:pPr lvl="1"/>
            <a:r>
              <a:rPr lang="en-US" dirty="0"/>
              <a:t>Calculate the Centroid (</a:t>
            </a:r>
            <a:r>
              <a:rPr lang="en-US" b="1" dirty="0"/>
              <a:t>Mean Vector</a:t>
            </a:r>
            <a:r>
              <a:rPr lang="en-US" dirty="0"/>
              <a:t>) of the 15-frame cluster.</a:t>
            </a:r>
            <a:endParaRPr lang="en-CA" dirty="0"/>
          </a:p>
          <a:p>
            <a:r>
              <a:rPr lang="en-CA" b="1" dirty="0"/>
              <a:t>Precision Search:</a:t>
            </a:r>
          </a:p>
          <a:p>
            <a:pPr lvl="1"/>
            <a:r>
              <a:rPr lang="en-US" dirty="0"/>
              <a:t>Apply </a:t>
            </a:r>
            <a:r>
              <a:rPr lang="en-US" b="1" dirty="0"/>
              <a:t>Gaussian Whitening</a:t>
            </a:r>
            <a:r>
              <a:rPr lang="en-US" dirty="0"/>
              <a:t> (to kill background noise </a:t>
            </a:r>
            <a:r>
              <a:rPr lang="en-US" dirty="0">
                <a:sym typeface="Wingdings" panose="05000000000000000000" pitchFamily="2" charset="2"/>
              </a:rPr>
              <a:t> I’ll handle it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Run </a:t>
            </a:r>
            <a:r>
              <a:rPr lang="en-US" b="1" dirty="0"/>
              <a:t>Cosine Similarity</a:t>
            </a:r>
            <a:r>
              <a:rPr lang="en-US" dirty="0"/>
              <a:t> to find the real frame closest to the Centroid.</a:t>
            </a:r>
            <a:endParaRPr lang="en-CA" b="1" dirty="0"/>
          </a:p>
          <a:p>
            <a:r>
              <a:rPr lang="en-US" b="1" dirty="0"/>
              <a:t>Result:</a:t>
            </a:r>
            <a:r>
              <a:rPr lang="en-US" dirty="0"/>
              <a:t> The perfect Keyframe is extracted!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10086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12EBF-86F1-5372-BBDD-211C6514F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else can you make with these?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37FAE-9FD0-704B-6764-C73940C0E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Beyond Keyframes - What else can we build?</a:t>
            </a:r>
            <a:endParaRPr lang="en-CA" dirty="0"/>
          </a:p>
          <a:p>
            <a:r>
              <a:rPr lang="en-US" b="1" dirty="0"/>
              <a:t>1. Reverse Video Search Engine:</a:t>
            </a:r>
            <a:r>
              <a:rPr lang="en-US" dirty="0"/>
              <a:t> Input a single photo, vector-match it against millions of flattened database frames, and instantly find the exact timestamp in a movie.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2. Automated Highlight Reel Generation: </a:t>
            </a:r>
            <a:r>
              <a:rPr lang="en-US" dirty="0"/>
              <a:t>Find the "Outliers" (vectors that suddenly jump far away) to instantly detect explosions, scene changes, or high-action moments.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3. Real-time Semantic Compression: </a:t>
            </a:r>
            <a:r>
              <a:rPr lang="en-US" dirty="0"/>
              <a:t>Throw away frames that are mathematically too close to each other, compressing a 60fps video down to 5fps without losing any meaningful visual information.</a:t>
            </a:r>
          </a:p>
          <a:p>
            <a:endParaRPr lang="en-US" dirty="0"/>
          </a:p>
          <a:p>
            <a:r>
              <a:rPr lang="en-US" b="1" dirty="0"/>
              <a:t>4. Build a Native AI Image Classifier from Scratch: </a:t>
            </a:r>
            <a:r>
              <a:rPr lang="en-US" dirty="0"/>
              <a:t>By applying this exact architecture (Flattening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Embedding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Cosine Search), we can build a foundational AI (k-NN Classifier). We can categorize images using pure C++ math, entirely independent of heavy frameworks like TensorFlow or </a:t>
            </a:r>
            <a:r>
              <a:rPr lang="en-US" dirty="0" err="1"/>
              <a:t>PyTorch</a:t>
            </a:r>
            <a:r>
              <a:rPr lang="en-US" dirty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3182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2338</Words>
  <Application>Microsoft Office PowerPoint</Application>
  <PresentationFormat>Widescreen</PresentationFormat>
  <Paragraphs>191</Paragraphs>
  <Slides>32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Wingdings</vt:lpstr>
      <vt:lpstr>Office Theme</vt:lpstr>
      <vt:lpstr>  Concepts of this proj - CPU Base -</vt:lpstr>
      <vt:lpstr>Index</vt:lpstr>
      <vt:lpstr>What is HPC (High-Performance Computing)?</vt:lpstr>
      <vt:lpstr>What is HPC cont. (examples_1)</vt:lpstr>
      <vt:lpstr>What is HPC cont. (examples_2)</vt:lpstr>
      <vt:lpstr>What is HPC? cont.</vt:lpstr>
      <vt:lpstr>HPC – Flattening (Restructuring Memory)</vt:lpstr>
      <vt:lpstr>HPC – Quantization (Data Compression)</vt:lpstr>
      <vt:lpstr>HPC - Example</vt:lpstr>
      <vt:lpstr>HPC – Concepts Simplified</vt:lpstr>
      <vt:lpstr>HPC - Example Simplified</vt:lpstr>
      <vt:lpstr>Tensor</vt:lpstr>
      <vt:lpstr>Tensor cont.</vt:lpstr>
      <vt:lpstr>Tensor cont.</vt:lpstr>
      <vt:lpstr>Image Vectorization</vt:lpstr>
      <vt:lpstr>Image Vectorization cont.</vt:lpstr>
      <vt:lpstr>Image Vectorization - visualization</vt:lpstr>
      <vt:lpstr>Embedding Space - General</vt:lpstr>
      <vt:lpstr>Embedding Space - General</vt:lpstr>
      <vt:lpstr>Embedding Space – Visualization</vt:lpstr>
      <vt:lpstr>Embedding Space - Visualization</vt:lpstr>
      <vt:lpstr>Embedding Space – In this proj.</vt:lpstr>
      <vt:lpstr>Searching algorithm in Vector Space</vt:lpstr>
      <vt:lpstr>Searching algorithm in Vector Space</vt:lpstr>
      <vt:lpstr>Cosine Similarity &amp; L2 Normalization</vt:lpstr>
      <vt:lpstr>Cosine Similarity &amp; L2 Normalization</vt:lpstr>
      <vt:lpstr>Cosine Similarity &amp; L2 Normalization</vt:lpstr>
      <vt:lpstr>Cosine Similarity &amp; L2 Normalization</vt:lpstr>
      <vt:lpstr>Mathematical Error (The XY Coordinate Trap)</vt:lpstr>
      <vt:lpstr>Mathematical Error (The XY Coordinate Trap)</vt:lpstr>
      <vt:lpstr>Project Pipeline</vt:lpstr>
      <vt:lpstr>What else can you make with these?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Junhyeok Choi</dc:creator>
  <cp:lastModifiedBy>Junhyeok Choi</cp:lastModifiedBy>
  <cp:revision>15</cp:revision>
  <dcterms:created xsi:type="dcterms:W3CDTF">2026-04-18T00:24:44Z</dcterms:created>
  <dcterms:modified xsi:type="dcterms:W3CDTF">2026-04-18T22:24:44Z</dcterms:modified>
</cp:coreProperties>
</file>